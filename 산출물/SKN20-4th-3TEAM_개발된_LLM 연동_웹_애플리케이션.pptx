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61" r:id="rId14"/>
  </p:sld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</p:sldIdLst>
  <p:sldSz cx="9144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58" userDrawn="1">
          <p15:clr>
            <a:srgbClr val="A4A3A4"/>
          </p15:clr>
        </p15:guide>
        <p15:guide id="1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printerSettings" Target="printerSettings/printerSettings1.bin"></Relationship><Relationship Id="rId2" Type="http://schemas.openxmlformats.org/officeDocument/2006/relationships/tableStyles" Target="tableStyles.xml"></Relationship><Relationship Id="rId14" Type="http://schemas.openxmlformats.org/officeDocument/2006/relationships/slideMaster" Target="slideMasters/slideMaster1.xml"></Relationship><Relationship Id="rId15" Type="http://schemas.openxmlformats.org/officeDocument/2006/relationships/theme" Target="theme/theme1.xml"></Relationship><Relationship Id="rId16" Type="http://schemas.openxmlformats.org/officeDocument/2006/relationships/slide" Target="slides/slide1.xml"></Relationship><Relationship Id="rId17" Type="http://schemas.openxmlformats.org/officeDocument/2006/relationships/slide" Target="slides/slide2.xml"></Relationship><Relationship Id="rId18" Type="http://schemas.openxmlformats.org/officeDocument/2006/relationships/slide" Target="slides/slide3.xml"></Relationship><Relationship Id="rId19" Type="http://schemas.openxmlformats.org/officeDocument/2006/relationships/slide" Target="slides/slide4.xml"></Relationship><Relationship Id="rId20" Type="http://schemas.openxmlformats.org/officeDocument/2006/relationships/slide" Target="slides/slide5.xml"></Relationship><Relationship Id="rId21" Type="http://schemas.openxmlformats.org/officeDocument/2006/relationships/slide" Target="slides/slide6.xml"></Relationship><Relationship Id="rId22" Type="http://schemas.openxmlformats.org/officeDocument/2006/relationships/slide" Target="slides/slide7.xml"></Relationship><Relationship Id="rId23" Type="http://schemas.openxmlformats.org/officeDocument/2006/relationships/slide" Target="slides/slide8.xml"></Relationship><Relationship Id="rId24" Type="http://schemas.openxmlformats.org/officeDocument/2006/relationships/slide" Target="slides/slide9.xml"></Relationship><Relationship Id="rId25" Type="http://schemas.openxmlformats.org/officeDocument/2006/relationships/viewProps" Target="viewProps.xml"></Relationship><Relationship Id="rId26" Type="http://schemas.openxmlformats.org/officeDocument/2006/relationships/presProps" Target="presProps.xml"></Relationship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반려견 건강 상담 AI 챗봇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RAG 기술 기반 반려견 건강 상담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</a:defRPr>
            </a:pPr>
            <a:r>
              <a:t>SKN20-4th-3TEAM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99999"/>
                </a:solidFill>
              </a:defRPr>
            </a:pPr>
            <a:r>
              <a:t>2026년 01월 09일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30235" cy="1143635"/>
          </a:xfrm>
        </p:spPr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1. 시스템 개요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 rot="0">
            <a:off x="914400" y="1805940"/>
            <a:ext cx="7315835" cy="3658234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spcAft>
                <a:spcPts val="2000"/>
              </a:spcAft>
              <a:buFontTx/>
              <a:buNone/>
              <a:defRPr sz="1800">
                <a:solidFill>
                  <a:srgbClr val="333333"/>
                </a:solidFill>
              </a:defRPr>
            </a:pPr>
            <a:r>
              <a:rPr/>
              <a:t>본 문서는 제공된 시스템 구성도를 바탕으로 "개발된 LLM 연동 웹 애플리케이션"의 구조와 기능에 대해 설명합니다.</a:t>
            </a:r>
            <a:endParaRPr lang="ko-KR" altLang="en-US"/>
          </a:p>
          <a:p>
            <a:pPr marL="0" indent="0">
              <a:spcAft>
                <a:spcPts val="2000"/>
              </a:spcAft>
              <a:buFontTx/>
              <a:buNone/>
              <a:defRPr sz="1800">
                <a:solidFill>
                  <a:srgbClr val="333333"/>
                </a:solidFill>
              </a:defRPr>
            </a:pPr>
            <a:r>
              <a:rPr/>
              <a:t>이 시스템은 사용자 친화적인 웹 인터페이스를 통해 대규모 언어 모델(LLM)과 상호작용하며, </a:t>
            </a:r>
            <a:endParaRPr lang="ko-KR" altLang="en-US"/>
          </a:p>
          <a:p>
            <a:pPr marL="0" indent="0">
              <a:buFontTx/>
              <a:buNone/>
              <a:defRPr sz="1800">
                <a:solidFill>
                  <a:srgbClr val="333333"/>
                </a:solidFill>
              </a:defRPr>
            </a:pPr>
            <a:r>
              <a:rPr/>
              <a:t>Retrieval-Augmented Generation (RAG) 기술을 활용하여 정확하고 정보에 기반한 답변을 제공하는 것을 목표로 합니다.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30235" cy="1143635"/>
          </a:xfrm>
        </p:spPr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2. 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3035" cy="2603500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spcAft>
                <a:spcPts val="1500"/>
              </a:spcAft>
              <a:buFontTx/>
              <a:buNone/>
              <a:defRPr sz="1600" b="1">
                <a:solidFill>
                  <a:srgbClr val="003366"/>
                </a:solidFill>
              </a:defRPr>
            </a:pPr>
            <a:r>
              <a:rPr/>
              <a:t>본 시스템은 크게 Frontend, Backend-DB, 그리고 LLM 및 RAG의 세 부분으로 구성됩니다.</a:t>
            </a:r>
            <a:endParaRPr lang="ko-KR" altLang="en-US"/>
          </a:p>
          <a:p>
            <a:pPr marL="0" indent="0">
              <a:spcAft>
                <a:spcPts val="1000"/>
              </a:spcAft>
              <a:buFontTx/>
              <a:buNone/>
              <a:defRPr sz="1800" b="1">
                <a:solidFill>
                  <a:srgbClr val="336699"/>
                </a:solidFill>
              </a:defRPr>
            </a:pPr>
            <a:r>
              <a:rPr/>
              <a:t>2.1. Frontend</a:t>
            </a:r>
            <a:endParaRPr lang="ko-KR" altLang="en-US"/>
          </a:p>
          <a:p>
            <a:pPr marL="0" indent="0" lvl="1">
              <a:buFontTx/>
              <a:buNone/>
              <a:defRPr sz="1400"/>
            </a:pPr>
            <a:r>
              <a:rPr/>
              <a:t>• 사용자 인터페이스(UI): React 프레임워크로 구축된 웹 브라우저 기반 시스템</a:t>
            </a:r>
            <a:endParaRPr lang="ko-KR" altLang="en-US"/>
          </a:p>
          <a:p>
            <a:pPr marL="0" indent="0" lvl="1">
              <a:buFontTx/>
              <a:buNone/>
              <a:defRPr sz="1400"/>
            </a:pPr>
            <a:r>
              <a:rPr/>
              <a:t>• 회원가입(Sign up) 및 로그인(Log in) 기능</a:t>
            </a:r>
            <a:endParaRPr lang="ko-KR" altLang="en-US"/>
          </a:p>
          <a:p>
            <a:pPr marL="0" indent="0" lvl="1">
              <a:spcAft>
                <a:spcPts val="1500"/>
              </a:spcAft>
              <a:buFontTx/>
              <a:buNone/>
              <a:defRPr sz="1400"/>
            </a:pPr>
            <a:r>
              <a:rPr/>
              <a:t>• 챗봇(ChatBot): 질문 입력 및 답변 표시</a:t>
            </a:r>
            <a:endParaRPr lang="ko-KR" altLang="en-US"/>
          </a:p>
          <a:p>
            <a:pPr marL="0" indent="0">
              <a:spcAft>
                <a:spcPts val="1000"/>
              </a:spcAft>
              <a:buFontTx/>
              <a:buNone/>
              <a:defRPr sz="1800" b="1">
                <a:solidFill>
                  <a:srgbClr val="336699"/>
                </a:solidFill>
              </a:defRPr>
            </a:pPr>
            <a:r>
              <a:rPr/>
              <a:t>2.2. Backen</a:t>
            </a:r>
            <a:r>
              <a:rPr/>
              <a:t>d</a:t>
            </a:r>
            <a:endParaRPr lang="ko-KR" altLang="en-US"/>
          </a:p>
          <a:p>
            <a:pPr marL="0" indent="0" lvl="1">
              <a:buFontTx/>
              <a:buNone/>
              <a:defRPr sz="1400"/>
            </a:pPr>
            <a:r>
              <a:rPr/>
              <a:t>• FastAPI를 사용한 서버 프레임워크</a:t>
            </a:r>
            <a:endParaRPr lang="ko-KR" altLang="en-US"/>
          </a:p>
          <a:p>
            <a:pPr marL="0" indent="0" lvl="1">
              <a:buFontTx/>
              <a:buNone/>
              <a:defRPr sz="1400"/>
            </a:pPr>
            <a:r>
              <a:rPr/>
              <a:t>• UserDB, SessionDB, Chat_log_Active DB, Chat_log_Archive DB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30235" cy="1143635"/>
          </a:xfrm>
        </p:spPr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3. 주요 기술 스택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609600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sz="1600" kern="1200" i="0" b="1">
                          <a:solidFill>
                            <a:srgbClr val="FFFFFF"/>
                          </a:solidFill>
                        </a:rPr>
                        <a:t>카테고리</a:t>
                      </a:r>
                      <a:endParaRPr lang="ko-KR" altLang="en-US" sz="1600" kern="1200" i="0" b="1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sz="1600" kern="1200" i="0" b="1">
                          <a:solidFill>
                            <a:srgbClr val="FFFFFF"/>
                          </a:solidFill>
                        </a:rPr>
                        <a:t>기술/도구</a:t>
                      </a:r>
                      <a:endParaRPr lang="ko-KR" altLang="en-US" sz="1600" kern="1200" i="0" b="1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00336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dk1"/>
                          </a:solidFill>
                        </a:rPr>
                        <a:t>Frontend</a:t>
                      </a:r>
                      <a:endParaRPr lang="ko-KR" altLang="en-US" sz="1400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/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dk1"/>
                          </a:solidFill>
                        </a:rPr>
                        <a:t>django</a:t>
                      </a:r>
                      <a:endParaRPr lang="ko-KR" altLang="en-US" sz="1400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/>
                </a:tc>
              </a:tr>
              <a:tr h="609600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dk1"/>
                          </a:solidFill>
                        </a:rPr>
                        <a:t>Backend</a:t>
                      </a:r>
                      <a:endParaRPr lang="ko-KR" altLang="en-US" sz="1400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dk1"/>
                          </a:solidFill>
                        </a:rPr>
                        <a:t>FastAPI, Python 3.11</a:t>
                      </a:r>
                      <a:endParaRPr lang="ko-KR" altLang="en-US" sz="1400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0F8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dk1"/>
                          </a:solidFill>
                        </a:rPr>
                        <a:t>Database</a:t>
                      </a:r>
                      <a:endParaRPr lang="ko-KR" altLang="en-US" sz="1400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/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dk1"/>
                          </a:solidFill>
                        </a:rPr>
                        <a:t>SQLite</a:t>
                      </a:r>
                      <a:endParaRPr lang="ko-KR" altLang="en-US" sz="1400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/>
                </a:tc>
              </a:tr>
              <a:tr h="609600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dk1"/>
                          </a:solidFill>
                        </a:rPr>
                        <a:t>AI/LLM</a:t>
                      </a:r>
                      <a:endParaRPr lang="ko-KR" altLang="en-US" sz="1400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dk1"/>
                          </a:solidFill>
                        </a:rPr>
                        <a:t>OpenAI GPT-4o-mini, LangChain</a:t>
                      </a:r>
                      <a:endParaRPr lang="ko-KR" altLang="en-US" sz="1400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0F8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dk1"/>
                          </a:solidFill>
                        </a:rPr>
                        <a:t>Vector DB</a:t>
                      </a:r>
                      <a:endParaRPr lang="ko-KR" altLang="en-US" sz="1400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/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dk1"/>
                          </a:solidFill>
                        </a:rPr>
                        <a:t>ChromaDB (54,786 documents), BAAI/bge-m3</a:t>
                      </a:r>
                      <a:endParaRPr lang="ko-KR" altLang="en-US" sz="1400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30869" cy="1144270"/>
          </a:xfrm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>
              <a:buFontTx/>
              <a:buNone/>
              <a:defRPr sz="4000">
                <a:solidFill>
                  <a:srgbClr val="003366"/>
                </a:solidFill>
              </a:defRPr>
            </a:pPr>
            <a:r>
              <a:rPr/>
              <a:t>4</a:t>
            </a:r>
            <a:r>
              <a:rPr/>
              <a:t>. 주요 기능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03366"/>
                </a:solidFill>
              </a:defRPr>
            </a:pPr>
            <a:r>
              <a:t>• 회원 관리</a:t>
            </a:r>
          </a:p>
          <a:p>
            <a:pPr lvl="1">
              <a:spcAft>
                <a:spcPts val="1500"/>
              </a:spcAft>
              <a:defRPr sz="1400">
                <a:solidFill>
                  <a:srgbClr val="333333"/>
                </a:solidFill>
              </a:defRPr>
            </a:pPr>
            <a:r>
              <a:t>회원가입, 로그인, JWT 토큰 기반 인증 시스템</a:t>
            </a:r>
          </a:p>
          <a:p>
            <a:pPr>
              <a:spcAft>
                <a:spcPts val="500"/>
              </a:spcAft>
              <a:defRPr sz="1600" b="1">
                <a:solidFill>
                  <a:srgbClr val="003366"/>
                </a:solidFill>
              </a:defRPr>
            </a:pPr>
            <a:r>
              <a:t>• 반려견 정보 관리</a:t>
            </a:r>
          </a:p>
          <a:p>
            <a:pPr lvl="1">
              <a:spcAft>
                <a:spcPts val="1500"/>
              </a:spcAft>
              <a:defRPr sz="1400">
                <a:solidFill>
                  <a:srgbClr val="333333"/>
                </a:solidFill>
              </a:defRPr>
            </a:pPr>
            <a:r>
              <a:t>반려견 등록, 품종/나이/체중 등 상세 정보 관리</a:t>
            </a:r>
          </a:p>
          <a:p>
            <a:pPr>
              <a:spcAft>
                <a:spcPts val="500"/>
              </a:spcAft>
              <a:defRPr sz="1600" b="1">
                <a:solidFill>
                  <a:srgbClr val="003366"/>
                </a:solidFill>
              </a:defRPr>
            </a:pPr>
            <a:r>
              <a:t>• AI 건강 상담</a:t>
            </a:r>
          </a:p>
          <a:p>
            <a:pPr lvl="1">
              <a:spcAft>
                <a:spcPts val="1500"/>
              </a:spcAft>
              <a:defRPr sz="1400">
                <a:solidFill>
                  <a:srgbClr val="333333"/>
                </a:solidFill>
              </a:defRPr>
            </a:pPr>
            <a:r>
              <a:t>반려견 건강, 질병, 증상에 대한 AI 기반 상담 서비스</a:t>
            </a:r>
          </a:p>
          <a:p>
            <a:pPr>
              <a:spcAft>
                <a:spcPts val="500"/>
              </a:spcAft>
              <a:defRPr sz="1600" b="1">
                <a:solidFill>
                  <a:srgbClr val="003366"/>
                </a:solidFill>
              </a:defRPr>
            </a:pPr>
            <a:r>
              <a:t>• 대화 이력 관리</a:t>
            </a:r>
          </a:p>
          <a:p>
            <a:pPr lvl="1">
              <a:spcAft>
                <a:spcPts val="1500"/>
              </a:spcAft>
              <a:defRPr sz="1400">
                <a:solidFill>
                  <a:srgbClr val="333333"/>
                </a:solidFill>
              </a:defRPr>
            </a:pPr>
            <a:r>
              <a:t>채팅 세션별 대화 내역 저장 및 조회</a:t>
            </a:r>
          </a:p>
          <a:p>
            <a:pPr>
              <a:spcAft>
                <a:spcPts val="500"/>
              </a:spcAft>
              <a:defRPr sz="1600" b="1">
                <a:solidFill>
                  <a:srgbClr val="003366"/>
                </a:solidFill>
              </a:defRPr>
            </a:pPr>
            <a:r>
              <a:t>• 맞춤형 답변</a:t>
            </a:r>
          </a:p>
          <a:p>
            <a:pPr lvl="1">
              <a:spcAft>
                <a:spcPts val="1500"/>
              </a:spcAft>
              <a:defRPr sz="1400">
                <a:solidFill>
                  <a:srgbClr val="333333"/>
                </a:solidFill>
              </a:defRPr>
            </a:pPr>
            <a:r>
              <a:t>등록된 반려견 정보를 고려한 개인화된 상담 답변 제공</a:t>
            </a:r>
          </a:p>
          <a:p>
            <a:pPr>
              <a:spcAft>
                <a:spcPts val="500"/>
              </a:spcAft>
              <a:defRPr sz="1600" b="1">
                <a:solidFill>
                  <a:srgbClr val="003366"/>
                </a:solidFill>
              </a:defRPr>
            </a:pPr>
            <a:r>
              <a:t>• 데이터 기반 검색</a:t>
            </a:r>
          </a:p>
          <a:p>
            <a:pPr lvl="1">
              <a:spcAft>
                <a:spcPts val="1500"/>
              </a:spcAft>
              <a:defRPr sz="1400">
                <a:solidFill>
                  <a:srgbClr val="333333"/>
                </a:solidFill>
              </a:defRPr>
            </a:pPr>
            <a:r>
              <a:t>54,786개의 반려견 건강 관련 문서에서 정보 검색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30869" cy="1144270"/>
          </a:xfrm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>
              <a:buFontTx/>
              <a:buNone/>
              <a:defRPr sz="4000">
                <a:solidFill>
                  <a:srgbClr val="003366"/>
                </a:solidFill>
              </a:defRPr>
            </a:pPr>
            <a:r>
              <a:rPr/>
              <a:t>5</a:t>
            </a:r>
            <a:r>
              <a:rPr/>
              <a:t>. 데이터베이스 구조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336699"/>
                </a:solidFill>
              </a:defRPr>
            </a:pPr>
            <a:r>
              <a:t>UserDB</a:t>
            </a:r>
          </a:p>
          <a:p>
            <a:pPr lvl="1">
              <a:spcAft>
                <a:spcPts val="300"/>
              </a:spcAft>
              <a:defRPr sz="1200">
                <a:solidFill>
                  <a:srgbClr val="555555"/>
                </a:solidFill>
              </a:defRPr>
            </a:pPr>
            <a:r>
              <a:t>필드: User_ID, UserName, Email, Created_at</a:t>
            </a:r>
          </a:p>
          <a:p>
            <a:pPr lvl="1">
              <a:spcAft>
                <a:spcPts val="1500"/>
              </a:spcAft>
              <a:defRPr sz="1200">
                <a:solidFill>
                  <a:srgbClr val="333333"/>
                </a:solidFill>
              </a:defRPr>
            </a:pPr>
            <a:r>
              <a:t>사용자의 기본 정보를 저장</a:t>
            </a:r>
          </a:p>
          <a:p>
            <a:pPr>
              <a:spcAft>
                <a:spcPts val="500"/>
              </a:spcAft>
              <a:defRPr sz="1600" b="1">
                <a:solidFill>
                  <a:srgbClr val="336699"/>
                </a:solidFill>
              </a:defRPr>
            </a:pPr>
            <a:r>
              <a:t>SessionDB</a:t>
            </a:r>
          </a:p>
          <a:p>
            <a:pPr lvl="1">
              <a:spcAft>
                <a:spcPts val="300"/>
              </a:spcAft>
              <a:defRPr sz="1200">
                <a:solidFill>
                  <a:srgbClr val="555555"/>
                </a:solidFill>
              </a:defRPr>
            </a:pPr>
            <a:r>
              <a:t>필드: Session_ID, User_ID, Session_Index, Started_at, Ended_at, Topic, Summary, Status</a:t>
            </a:r>
          </a:p>
          <a:p>
            <a:pPr lvl="1">
              <a:spcAft>
                <a:spcPts val="1500"/>
              </a:spcAft>
              <a:defRPr sz="1200">
                <a:solidFill>
                  <a:srgbClr val="333333"/>
                </a:solidFill>
              </a:defRPr>
            </a:pPr>
            <a:r>
              <a:t>각 대화 세션의 정보를 저장</a:t>
            </a:r>
          </a:p>
          <a:p>
            <a:pPr>
              <a:spcAft>
                <a:spcPts val="500"/>
              </a:spcAft>
              <a:defRPr sz="1600" b="1">
                <a:solidFill>
                  <a:srgbClr val="336699"/>
                </a:solidFill>
              </a:defRPr>
            </a:pPr>
            <a:r>
              <a:t>Chat_log_Active DB</a:t>
            </a:r>
          </a:p>
          <a:p>
            <a:pPr lvl="1">
              <a:spcAft>
                <a:spcPts val="300"/>
              </a:spcAft>
              <a:defRPr sz="1200">
                <a:solidFill>
                  <a:srgbClr val="555555"/>
                </a:solidFill>
              </a:defRPr>
            </a:pPr>
            <a:r>
              <a:t>필드: ID, User_ID, Session_Index, Sender, Message, Timestamp</a:t>
            </a:r>
          </a:p>
          <a:p>
            <a:pPr lvl="1">
              <a:spcAft>
                <a:spcPts val="1500"/>
              </a:spcAft>
              <a:defRPr sz="1200">
                <a:solidFill>
                  <a:srgbClr val="333333"/>
                </a:solidFill>
              </a:defRPr>
            </a:pPr>
            <a:r>
              <a:t>현재 진행 중인 활성 대화의 로그를 저장</a:t>
            </a:r>
          </a:p>
          <a:p>
            <a:pPr>
              <a:spcAft>
                <a:spcPts val="500"/>
              </a:spcAft>
              <a:defRPr sz="1600" b="1">
                <a:solidFill>
                  <a:srgbClr val="336699"/>
                </a:solidFill>
              </a:defRPr>
            </a:pPr>
            <a:r>
              <a:t>Chat_log_Archive DB</a:t>
            </a:r>
          </a:p>
          <a:p>
            <a:pPr lvl="1">
              <a:spcAft>
                <a:spcPts val="300"/>
              </a:spcAft>
              <a:defRPr sz="1200">
                <a:solidFill>
                  <a:srgbClr val="555555"/>
                </a:solidFill>
              </a:defRPr>
            </a:pPr>
            <a:r>
              <a:t>필드: ID, User_ID, Session_Index, Sender, Message, Timestamp</a:t>
            </a:r>
          </a:p>
          <a:p>
            <a:pPr lvl="1">
              <a:spcAft>
                <a:spcPts val="1500"/>
              </a:spcAft>
              <a:defRPr sz="1200">
                <a:solidFill>
                  <a:srgbClr val="333333"/>
                </a:solidFill>
              </a:defRPr>
            </a:pPr>
            <a:r>
              <a:t>완료되거나 오래된 대화 로그를 보관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30869" cy="1144270"/>
          </a:xfrm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>
              <a:buFontTx/>
              <a:buNone/>
              <a:defRPr sz="4000">
                <a:solidFill>
                  <a:srgbClr val="003366"/>
                </a:solidFill>
              </a:defRPr>
            </a:pPr>
            <a:r>
              <a:rPr/>
              <a:t>6</a:t>
            </a:r>
            <a:r>
              <a:rPr/>
              <a:t>. RAG 시스템 상세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003366"/>
                </a:solidFill>
              </a:defRPr>
            </a:pPr>
            <a:r>
              <a:t>Retrieval-Augmented Generation (RAG)</a:t>
            </a:r>
          </a:p>
          <a:p>
            <a:pPr>
              <a:spcAft>
                <a:spcPts val="2000"/>
              </a:spcAft>
              <a:defRPr sz="1600">
                <a:solidFill>
                  <a:srgbClr val="333333"/>
                </a:solidFill>
              </a:defRPr>
            </a:pPr>
            <a:r>
              <a:t>LLM이 더 정확하고 풍부한 정보를 바탕으로 답변을 생성하도록 돕는 시스템</a:t>
            </a:r>
          </a:p>
          <a:p>
            <a:pPr>
              <a:spcAft>
                <a:spcPts val="500"/>
              </a:spcAft>
              <a:defRPr sz="1500" b="1">
                <a:solidFill>
                  <a:srgbClr val="336699"/>
                </a:solidFill>
              </a:defRPr>
            </a:pPr>
            <a:r>
              <a:t>1. 질문 분석 및 벡터 검색</a:t>
            </a:r>
          </a:p>
          <a:p>
            <a:pPr lvl="1">
              <a:spcAft>
                <a:spcPts val="1000"/>
              </a:spcAft>
              <a:defRPr sz="1200">
                <a:solidFill>
                  <a:srgbClr val="555555"/>
                </a:solidFill>
              </a:defRPr>
            </a:pPr>
            <a:r>
              <a:t>사용자의 질문이 입력되면, Vectorize하여 벡터 데이터베이스(Vector DB)에서 관련성이 높은 정보를 검색</a:t>
            </a:r>
          </a:p>
          <a:p>
            <a:pPr>
              <a:spcAft>
                <a:spcPts val="500"/>
              </a:spcAft>
              <a:defRPr sz="1500" b="1">
                <a:solidFill>
                  <a:srgbClr val="336699"/>
                </a:solidFill>
              </a:defRPr>
            </a:pPr>
            <a:r>
              <a:t>2. 정보 검색(Retrieve)</a:t>
            </a:r>
          </a:p>
          <a:p>
            <a:pPr lvl="1">
              <a:spcAft>
                <a:spcPts val="1000"/>
              </a:spcAft>
              <a:defRPr sz="1200">
                <a:solidFill>
                  <a:srgbClr val="555555"/>
                </a:solidFill>
              </a:defRPr>
            </a:pPr>
            <a:r>
              <a:t>Retriever가 검색된 정보를 가져옴</a:t>
            </a:r>
          </a:p>
          <a:p>
            <a:pPr>
              <a:spcAft>
                <a:spcPts val="500"/>
              </a:spcAft>
              <a:defRPr sz="1500" b="1">
                <a:solidFill>
                  <a:srgbClr val="336699"/>
                </a:solidFill>
              </a:defRPr>
            </a:pPr>
            <a:r>
              <a:t>3. 프롬프트 엔지니어링</a:t>
            </a:r>
          </a:p>
          <a:p>
            <a:pPr lvl="1">
              <a:spcAft>
                <a:spcPts val="1000"/>
              </a:spcAft>
              <a:defRPr sz="1200">
                <a:solidFill>
                  <a:srgbClr val="555555"/>
                </a:solidFill>
              </a:defRPr>
            </a:pPr>
            <a:r>
              <a:t>검색된 정보와 사용자의 원본 질문을 조합하여 LLM이 가장 잘 이해하고 답변할 수 있는 형태의 프롬프트를 생성</a:t>
            </a:r>
          </a:p>
          <a:p>
            <a:pPr>
              <a:spcAft>
                <a:spcPts val="500"/>
              </a:spcAft>
              <a:defRPr sz="1500" b="1">
                <a:solidFill>
                  <a:srgbClr val="336699"/>
                </a:solidFill>
              </a:defRPr>
            </a:pPr>
            <a:r>
              <a:t>4. 답변 생성</a:t>
            </a:r>
          </a:p>
          <a:p>
            <a:pPr lvl="1">
              <a:spcAft>
                <a:spcPts val="1000"/>
              </a:spcAft>
              <a:defRPr sz="1200">
                <a:solidFill>
                  <a:srgbClr val="555555"/>
                </a:solidFill>
              </a:defRPr>
            </a:pPr>
            <a:r>
              <a:t>완성된 프롬프트가 LLM에 전달되고, LLM은 이를 바탕으로 최종 답변(Answer)을 생성</a:t>
            </a:r>
          </a:p>
          <a:p>
            <a:pPr>
              <a:spcAft>
                <a:spcPts val="500"/>
              </a:spcAft>
              <a:defRPr sz="1500" b="1">
                <a:solidFill>
                  <a:srgbClr val="336699"/>
                </a:solidFill>
              </a:defRPr>
            </a:pPr>
            <a:r>
              <a:t>5. 지식 업데이트</a:t>
            </a:r>
          </a:p>
          <a:p>
            <a:pPr lvl="1">
              <a:spcAft>
                <a:spcPts val="1000"/>
              </a:spcAft>
              <a:defRPr sz="1200">
                <a:solidFill>
                  <a:srgbClr val="555555"/>
                </a:solidFill>
              </a:defRPr>
            </a:pPr>
            <a:r>
              <a:t>새로운 정보는 Vectorize 과정을 거쳐 Vector DB에 저장되어 최신성과 정확성을 유지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30869" cy="1144270"/>
          </a:xfrm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>
              <a:buFontTx/>
              <a:buNone/>
              <a:defRPr sz="3600">
                <a:solidFill>
                  <a:srgbClr val="003366"/>
                </a:solidFill>
              </a:defRPr>
            </a:pPr>
            <a:r>
              <a:rPr/>
              <a:t>7</a:t>
            </a:r>
            <a:r>
              <a:rPr/>
              <a:t>. 데이터 및 사용자 상호작용 흐름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3366"/>
                </a:solidFill>
              </a:defRPr>
            </a:pPr>
            <a:r>
              <a:t>1. 로그인/회원가입</a:t>
            </a:r>
          </a:p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</a:defRPr>
            </a:pPr>
            <a:r>
              <a:t>사용자는 Frontend를 통해 시스템에 접속하여 계정을 생성하거나 로그인합니다. 사용자 정보는 UserDB에 저장됩니다.</a:t>
            </a:r>
          </a:p>
          <a:p>
            <a:pPr>
              <a:spcAft>
                <a:spcPts val="500"/>
              </a:spcAft>
              <a:defRPr sz="1500" b="1">
                <a:solidFill>
                  <a:srgbClr val="003366"/>
                </a:solidFill>
              </a:defRPr>
            </a:pPr>
            <a:r>
              <a:t>2. 질문 입력</a:t>
            </a:r>
          </a:p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</a:defRPr>
            </a:pPr>
            <a:r>
              <a:t>사용자가 챗봇 인터페이스에 질문을 입력합니다.</a:t>
            </a:r>
          </a:p>
          <a:p>
            <a:pPr>
              <a:spcAft>
                <a:spcPts val="500"/>
              </a:spcAft>
              <a:defRPr sz="1500" b="1">
                <a:solidFill>
                  <a:srgbClr val="003366"/>
                </a:solidFill>
              </a:defRPr>
            </a:pPr>
            <a:r>
              <a:t>3. 백엔드 전달</a:t>
            </a:r>
          </a:p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</a:defRPr>
            </a:pPr>
            <a:r>
              <a:t>질문은 Backend 서버로 전달되어 새로운 대화 세션이 생성되거나 기존 세션에 추가됩니다. (SessionDB, Chat_log_Active DB에 기록)</a:t>
            </a:r>
          </a:p>
          <a:p>
            <a:pPr>
              <a:spcAft>
                <a:spcPts val="500"/>
              </a:spcAft>
              <a:defRPr sz="1500" b="1">
                <a:solidFill>
                  <a:srgbClr val="003366"/>
                </a:solidFill>
              </a:defRPr>
            </a:pPr>
            <a:r>
              <a:t>4. RAG 시스템 작동</a:t>
            </a:r>
          </a:p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</a:defRPr>
            </a:pPr>
            <a:r>
              <a:t>질문은 RAG 시스템으로 전달되어 관련 문서를 검색하고, LLM을 위한 최적화된 프롬프트를 생성합니다.</a:t>
            </a:r>
          </a:p>
          <a:p>
            <a:pPr>
              <a:spcAft>
                <a:spcPts val="500"/>
              </a:spcAft>
              <a:defRPr sz="1500" b="1">
                <a:solidFill>
                  <a:srgbClr val="003366"/>
                </a:solidFill>
              </a:defRPr>
            </a:pPr>
            <a:r>
              <a:t>5. LLM 답변 생성</a:t>
            </a:r>
          </a:p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</a:defRPr>
            </a:pPr>
            <a:r>
              <a:t>LLM이 프롬프트를 기반으로 답변을 생성합니다.</a:t>
            </a:r>
          </a:p>
          <a:p>
            <a:pPr>
              <a:spcAft>
                <a:spcPts val="500"/>
              </a:spcAft>
              <a:defRPr sz="1500" b="1">
                <a:solidFill>
                  <a:srgbClr val="003366"/>
                </a:solidFill>
              </a:defRPr>
            </a:pPr>
            <a:r>
              <a:t>6. 답변 전달 및 표시</a:t>
            </a:r>
          </a:p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</a:defRPr>
            </a:pPr>
            <a:r>
              <a:t>생성된 답변은 다시 Backend를 거쳐 Frontend의 챗봇 화면에 표시됩니다. 대화 내용은 Chat_log 관련 데이터베이스에 기록됩니다.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30869" cy="1144270"/>
          </a:xfrm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>
              <a:buFontTx/>
              <a:buNone/>
              <a:defRPr sz="4000">
                <a:solidFill>
                  <a:srgbClr val="003366"/>
                </a:solidFill>
              </a:defRPr>
            </a:pPr>
            <a:r>
              <a:rPr/>
              <a:t>8</a:t>
            </a:r>
            <a:r>
              <a:rPr/>
              <a:t>. 주요 요구사항</a:t>
            </a:r>
            <a:endParaRPr lang="ko-KR" alt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0292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요구사항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요구사항명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최초 요청일자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REQ_001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회원 가입 및 인증 기능 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2026.1.5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REQ_002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JWT 기반 로그인 및 세션 관리 구현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2026.1.5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REQ_003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반려견 정보 등록 및 관리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2026.1.6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REQ_005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반려견 건강 상담 말뭉치 데이터 전처리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2026.1.7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REQ_007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RAG 파이프라인 구축 (벡터 검색 + BM25)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2026.1.8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REQ_011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React 기반 웹 프론트엔드 UI/UX 개발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2026.1.9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WebOffice</Application>
  <AppVersion>12.000</AppVersion>
  <Characters>0</Characters>
  <CharactersWithSpaces>0</CharactersWithSpaces>
  <DocSecurity>0</DocSecurity>
  <HyperlinksChanged>false</HyperlinksChanged>
  <Lines>0</Lines>
  <LinksUpToDate>false</LinksUpToDate>
  <Pages>9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Steve Canny</cp:lastModifiedBy>
  <dcterms:modified xsi:type="dcterms:W3CDTF">2013-01-27T09:15:58Z</dcterms:modified>
</cp:coreProperties>
</file>